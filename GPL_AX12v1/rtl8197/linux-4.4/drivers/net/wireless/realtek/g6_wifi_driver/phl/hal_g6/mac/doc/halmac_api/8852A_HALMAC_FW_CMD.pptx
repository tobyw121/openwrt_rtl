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7" r:id="rId2"/>
    <p:sldId id="397" r:id="rId3"/>
    <p:sldId id="386" r:id="rId4"/>
    <p:sldId id="406" r:id="rId5"/>
    <p:sldId id="400" r:id="rId6"/>
    <p:sldId id="353" r:id="rId7"/>
    <p:sldId id="401" r:id="rId8"/>
    <p:sldId id="402" r:id="rId9"/>
    <p:sldId id="403" r:id="rId10"/>
    <p:sldId id="409" r:id="rId11"/>
    <p:sldId id="392" r:id="rId12"/>
    <p:sldId id="404" r:id="rId13"/>
    <p:sldId id="405" r:id="rId14"/>
    <p:sldId id="395" r:id="rId15"/>
    <p:sldId id="407" r:id="rId16"/>
    <p:sldId id="408" r:id="rId17"/>
    <p:sldId id="410" r:id="rId18"/>
    <p:sldId id="411" r:id="rId19"/>
    <p:sldId id="412" r:id="rId20"/>
    <p:sldId id="413" r:id="rId21"/>
    <p:sldId id="414" r:id="rId22"/>
    <p:sldId id="415" r:id="rId23"/>
    <p:sldId id="416" r:id="rId24"/>
    <p:sldId id="417" r:id="rId25"/>
    <p:sldId id="418" r:id="rId2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9900"/>
    <a:srgbClr val="FF9900"/>
    <a:srgbClr val="99CC00"/>
    <a:srgbClr val="008000"/>
    <a:srgbClr val="FFCC99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90" autoAdjust="0"/>
    <p:restoredTop sz="98494" autoAdjust="0"/>
  </p:normalViewPr>
  <p:slideViewPr>
    <p:cSldViewPr>
      <p:cViewPr>
        <p:scale>
          <a:sx n="100" d="100"/>
          <a:sy n="100" d="100"/>
        </p:scale>
        <p:origin x="-2178" y="-390"/>
      </p:cViewPr>
      <p:guideLst>
        <p:guide orient="horz" pos="2160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AF31A619-C647-40EE-9CF2-F30F52969442}" type="datetimeFigureOut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F4C7A367-5074-4AC6-B575-5699B176E7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054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293" y="0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17FCAF56-DA37-4FE2-A5C7-7589D849C00D}" type="datetimeFigureOut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821"/>
            <a:ext cx="5445760" cy="447238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465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293" y="9440465"/>
            <a:ext cx="2950317" cy="497285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90673C58-2576-47A5-8A09-76E45EA5C2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77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44A266-3723-4804-AE5E-B4F1483663B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01A07-B109-4B77-A4E0-09428898BEC7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496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95909-23E7-4B9A-8B2A-276DEE8F7C8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1FB8-6F8E-4967-9BFF-9D687854EAEC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87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9FF3F-5283-4850-BB9D-FA85E905465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C4E42-D7F6-4FF8-AA89-216BF1C86293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1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71550" y="981075"/>
            <a:ext cx="3884613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08563" y="981075"/>
            <a:ext cx="3884612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1148E-AB1B-4D23-A6F0-EF1645C945D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9FD07-29A0-4324-BAD3-5B992F5BDA63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097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4DFBB-7A55-4FE0-A5DF-70AD758ECCF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44602-CB3D-41B0-833A-E79DD9BC1067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1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BDC88-9B22-4A1C-8C1A-F41DBE44EF1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23EFE2-CD3B-4B20-B301-343ABF5BA675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19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69F40-0888-4F2A-A624-792C853E5C7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9D69D-C814-4249-BC23-F04D21B1BB43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6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E4A0A-B2D7-4E48-BCA7-E02FD909F64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CC1B9-EBF5-4EA4-973D-5A963C2EC0B2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46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A5670-C82C-48B0-A8E2-26A66BF0C09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4154-3CA0-4C9B-8F49-62EECEED64A0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505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76DB2-5482-4C40-9C42-15D75BE0B70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0ECFA-4611-4AD3-B77C-F0A18AC342B3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625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907213" y="188913"/>
            <a:ext cx="1985962" cy="554513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49325" y="188913"/>
            <a:ext cx="5805488" cy="554513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9BB1A-677D-4819-A532-3E748EA595D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22898-EDD1-4373-9319-37343F73154A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760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0" y="6427788"/>
            <a:ext cx="8382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 b="1" smtClean="0">
                <a:solidFill>
                  <a:schemeClr val="bg1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fld id="{2125A2A3-3386-4762-8E7F-53C303B757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57313" y="6453188"/>
            <a:ext cx="2809875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mtClean="0">
                <a:solidFill>
                  <a:schemeClr val="bg1"/>
                </a:solidFill>
                <a:latin typeface="+mn-lt"/>
                <a:ea typeface="新細明體" pitchFamily="18" charset="-120"/>
                <a:cs typeface="Arial" pitchFamily="34" charset="0"/>
              </a:defRPr>
            </a:lvl1pPr>
          </a:lstStyle>
          <a:p>
            <a:pPr>
              <a:defRPr/>
            </a:pPr>
            <a:fld id="{CACBBDE8-9449-4D2B-B471-3E61EC1942D2}" type="datetime1">
              <a:rPr lang="zh-TW" altLang="en-US" smtClean="0"/>
              <a:t>2019/6/14</a:t>
            </a:fld>
            <a:endParaRPr lang="zh-TW" alt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36700" y="6297613"/>
            <a:ext cx="19939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1">
                <a:solidFill>
                  <a:schemeClr val="bg1"/>
                </a:solidFill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76200" y="76200"/>
            <a:ext cx="7772400" cy="7191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saka" charset="-128"/>
            </a:endParaRP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1550" y="981075"/>
            <a:ext cx="79216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3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949325" y="188913"/>
            <a:ext cx="79438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CC00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CC00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99CC00"/>
        </a:buClr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投影片編號版面配置區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-</a:t>
            </a:r>
            <a:fld id="{7C907533-8BD8-4974-849E-A921CC5F2B76}" type="slidenum"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pPr algn="ctr">
                <a:spcBef>
                  <a:spcPct val="0"/>
                </a:spcBef>
                <a:buClrTx/>
                <a:buFontTx/>
                <a:buNone/>
              </a:pPr>
              <a:t>1</a:t>
            </a:fld>
            <a:r>
              <a:rPr lang="en-US" altLang="zh-TW" sz="1000" b="0" smtClean="0">
                <a:solidFill>
                  <a:schemeClr val="tx1"/>
                </a:solidFill>
                <a:latin typeface="Arial" pitchFamily="34" charset="0"/>
              </a:rPr>
              <a:t>-</a:t>
            </a:r>
          </a:p>
        </p:txBody>
      </p:sp>
      <p:sp>
        <p:nvSpPr>
          <p:cNvPr id="2051" name="日期版面配置區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spcBef>
                <a:spcPct val="20000"/>
              </a:spcBef>
              <a:buClr>
                <a:schemeClr val="accent2"/>
              </a:buClr>
              <a:buChar char="•"/>
              <a:defRPr kumimoji="1" sz="3200" b="1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Char char="–"/>
              <a:defRPr kumimoji="1" sz="28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4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>
                <a:solidFill>
                  <a:srgbClr val="4D4D4D"/>
                </a:solidFill>
                <a:latin typeface="Georgia" pitchFamily="18" charset="0"/>
                <a:ea typeface="新細明體" pitchFamily="18" charset="-12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kumimoji="0" lang="en-US" altLang="en-US" sz="1000" smtClean="0">
                <a:solidFill>
                  <a:schemeClr val="tx1"/>
                </a:solidFill>
                <a:latin typeface="Arial" pitchFamily="34" charset="0"/>
                <a:ea typeface="Osaka"/>
              </a:rPr>
              <a:t>Copyright </a:t>
            </a:r>
            <a:r>
              <a:rPr kumimoji="0" lang="en-US" altLang="en-US" sz="1000" b="0" smtClean="0">
                <a:solidFill>
                  <a:schemeClr val="tx1"/>
                </a:solidFill>
                <a:latin typeface="Times" pitchFamily="18" charset="0"/>
                <a:ea typeface="Osaka"/>
              </a:rPr>
              <a:t>©</a:t>
            </a:r>
            <a:r>
              <a:rPr kumimoji="0" lang="en-US" altLang="en-US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 200</a:t>
            </a:r>
            <a:r>
              <a:rPr kumimoji="0" lang="en-US" altLang="zh-TW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7</a:t>
            </a:r>
            <a:r>
              <a:rPr kumimoji="0" lang="en-US" altLang="en-US" sz="1000" b="0" smtClean="0">
                <a:solidFill>
                  <a:schemeClr val="tx1"/>
                </a:solidFill>
                <a:latin typeface="Arial" pitchFamily="34" charset="0"/>
                <a:ea typeface="Osaka"/>
              </a:rPr>
              <a:t> Realtek Semiconductor Corp.</a:t>
            </a:r>
            <a:endParaRPr kumimoji="0" lang="en-US" altLang="zh-TW" sz="1000" b="0" smtClean="0">
              <a:solidFill>
                <a:schemeClr val="tx1"/>
              </a:solidFill>
              <a:latin typeface="Arial" pitchFamily="34" charset="0"/>
              <a:ea typeface="Osaka"/>
            </a:endParaRP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2141984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TW" sz="36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8852A HALMAC FW CMD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92624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Ivan Lin</a:t>
            </a:r>
            <a:endParaRPr lang="en-US" altLang="zh-TW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34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Design Goal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Generate the common communication interface between HALMAC and FW.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避免像以往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REG, H2C PKT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及其他的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作為溝通介面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management.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必須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確保需要的時候一定可以拿到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Support flexible handshaking mechanism.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response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及不同狀況下的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Support concurrent command.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支援同時處理多筆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，提高效率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07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6839" y="980728"/>
            <a:ext cx="7921625" cy="5904656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 Structure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Handshaking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Master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Non sequential processing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Sequential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95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6839" y="980728"/>
            <a:ext cx="7921625" cy="5904656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Buffer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Init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 Exit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 Allocation  and Free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H2C Buffer Control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Example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TX FWCMD Loopback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RX FWCMD Loopback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14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 H2C </a:t>
            </a:r>
            <a:r>
              <a:rPr lang="en-US" altLang="zh-TW" dirty="0" smtClean="0"/>
              <a:t>Buffer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3600400" cy="5112221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PKT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，三種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 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，針對不同的應用，分別為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，用來處理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response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</p:txBody>
      </p:sp>
      <p:pic>
        <p:nvPicPr>
          <p:cNvPr id="2050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40768"/>
            <a:ext cx="429255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23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 H2C Buffer - </a:t>
            </a:r>
            <a:r>
              <a:rPr lang="en-US" altLang="zh-TW" dirty="0" smtClean="0"/>
              <a:t>Command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2951981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總共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512byte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pool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LLT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，每個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64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byte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，需要時需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allocate(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，不需要時需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初始化階段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配置，確保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time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階段都可要得到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4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005064"/>
            <a:ext cx="5031879" cy="21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94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 H2C Buffer - </a:t>
            </a:r>
            <a:r>
              <a:rPr lang="en-US" altLang="zh-TW" dirty="0" smtClean="0"/>
              <a:t>Data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2951981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總共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1024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byte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pool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LLT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，每個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256byte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所有帶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，需要時需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allocate(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，不需要時需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初始化階段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配置，確保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time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階段都可要得到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98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059421"/>
            <a:ext cx="4817269" cy="217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74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 H2C Buffer - </a:t>
            </a:r>
            <a:r>
              <a:rPr lang="en-US" altLang="zh-TW" dirty="0" smtClean="0"/>
              <a:t>Long </a:t>
            </a:r>
            <a:r>
              <a:rPr lang="en-US" altLang="zh-TW" dirty="0" smtClean="0"/>
              <a:t>Data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2951981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總共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2048byte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pool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LLT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，每個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2048byte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所有帶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，需要時需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allocate(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，不需要時需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初始化階段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配置，確保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time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階段都可要得到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不支援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concurrent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處理，因只有一個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2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626" y="4059421"/>
            <a:ext cx="4849654" cy="217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42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 H2C Buffer - </a:t>
            </a:r>
            <a:r>
              <a:rPr lang="en-US" altLang="zh-TW" dirty="0" smtClean="0"/>
              <a:t>Work Queue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3168005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pool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用途，因此初始化階段不會配置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LLT node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處理需要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 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都進此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，需要時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，收到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，使用者可確認是否正確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若正確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無誤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，使用者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pool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，只需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call API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即可，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會自行分辨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歸還到正確的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 queue</a:t>
            </a:r>
          </a:p>
        </p:txBody>
      </p:sp>
      <p:pic>
        <p:nvPicPr>
          <p:cNvPr id="6146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725144"/>
            <a:ext cx="1371600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1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SW H2C Buffer </a:t>
            </a:r>
            <a:r>
              <a:rPr lang="en-US" altLang="zh-TW" dirty="0" smtClean="0"/>
              <a:t>- Buffer Structure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755576" y="981075"/>
            <a:ext cx="7921625" cy="3168005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Structure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id: 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，為獨一無二的，用來作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search</a:t>
            </a:r>
          </a:p>
          <a:p>
            <a:pPr lvl="1"/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的長度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*head, *end: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分別指向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end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*data, *tail: 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分別指向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end</a:t>
            </a:r>
          </a:p>
        </p:txBody>
      </p:sp>
      <p:pic>
        <p:nvPicPr>
          <p:cNvPr id="8194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682330"/>
            <a:ext cx="290512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11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Handshaking - </a:t>
            </a:r>
            <a:r>
              <a:rPr lang="en-US" altLang="zh-TW" dirty="0" smtClean="0"/>
              <a:t>ACK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5184229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ACK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HALMAC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即代表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procedure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結束，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且處理結束後，直接歸還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，不進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</a:p>
          <a:p>
            <a:pPr marL="0" indent="0">
              <a:buNone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Handshaking - </a:t>
            </a:r>
            <a:r>
              <a:rPr lang="en-US" altLang="zh-TW" dirty="0" smtClean="0"/>
              <a:t>ACK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5184229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Received ACK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HALMAC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後需要等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且處理結束後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，先把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推進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，待收到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之後，把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拿出來，確認無誤後再歸還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後立刻回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Done ACK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HALMAC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後需要等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且處理結束後，先把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推進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，待收到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之後，把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拿出來，確認無誤後再歸還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FW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後處理完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後再回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961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Handshaking - </a:t>
            </a:r>
            <a:r>
              <a:rPr lang="en-US" altLang="zh-TW" dirty="0" smtClean="0"/>
              <a:t>Master CMD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13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5184229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Master Flag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當使用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master 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 三種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會被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住，此時若有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 request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busy state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，待此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處理結束後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可以拿到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</a:t>
            </a:r>
          </a:p>
          <a:p>
            <a:pPr marL="457200" lvl="1" indent="0">
              <a:buNone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596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Handshaking - </a:t>
            </a:r>
            <a:r>
              <a:rPr lang="en-US" altLang="zh-TW" dirty="0" smtClean="0"/>
              <a:t>Sequential </a:t>
            </a:r>
            <a:r>
              <a:rPr lang="en-US" altLang="zh-TW" dirty="0" smtClean="0"/>
              <a:t>Processing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3528045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Non Sequential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Processing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Host CPU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下完多筆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WLAN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CPU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可以不用按照收到的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順序，每筆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為互相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獨立，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HALMAC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皆可處理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大部分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Sequential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Processing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Host CPU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下完多筆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WLAN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按照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收到的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num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有相互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因處理上較複雜，不傾向使用此方式，僅留需要的欄位，實作先定為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low priority</a:t>
            </a: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755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API</a:t>
            </a:r>
            <a:r>
              <a:rPr lang="en-US" altLang="zh-TW" dirty="0" smtClean="0"/>
              <a:t> </a:t>
            </a:r>
            <a:r>
              <a:rPr lang="en-US" altLang="zh-TW" dirty="0" smtClean="0"/>
              <a:t>-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Buffer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Init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3960093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h2cb_init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建立三種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2cb_exit()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Free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</a:t>
            </a:r>
          </a:p>
        </p:txBody>
      </p:sp>
      <p:pic>
        <p:nvPicPr>
          <p:cNvPr id="6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80784"/>
            <a:ext cx="3168352" cy="334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47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API</a:t>
            </a:r>
            <a:r>
              <a:rPr lang="en-US" altLang="zh-TW" dirty="0" smtClean="0"/>
              <a:t> </a:t>
            </a:r>
            <a:r>
              <a:rPr lang="en-US" altLang="zh-TW" dirty="0" smtClean="0"/>
              <a:t>-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 Allocation  and Free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16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1727845"/>
          </a:xfrm>
        </p:spPr>
        <p:txBody>
          <a:bodyPr/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h2c_buf *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h2cb_alloc(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buf_class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傳指定的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void h2cb_free(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h2c_buf *h2cb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buffer</a:t>
            </a:r>
          </a:p>
        </p:txBody>
      </p:sp>
    </p:spTree>
    <p:extLst>
      <p:ext uri="{BB962C8B-B14F-4D97-AF65-F5344CB8AC3E}">
        <p14:creationId xmlns:p14="http://schemas.microsoft.com/office/powerpoint/2010/main" val="427963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API</a:t>
            </a:r>
            <a:r>
              <a:rPr lang="en-US" altLang="zh-TW" dirty="0" smtClean="0"/>
              <a:t> </a:t>
            </a:r>
            <a:r>
              <a:rPr lang="en-US" altLang="zh-TW" dirty="0" smtClean="0"/>
              <a:t>-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H2C Buffer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17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1727845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u8 *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h2cb_put(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h2c_buf *h2cb, u32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len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long data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要使用的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pointer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，不包含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header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wd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info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218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470498"/>
            <a:ext cx="11049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單箭頭接點 5"/>
          <p:cNvCxnSpPr/>
          <p:nvPr/>
        </p:nvCxnSpPr>
        <p:spPr bwMode="auto">
          <a:xfrm>
            <a:off x="3419872" y="4365104"/>
            <a:ext cx="432048" cy="0"/>
          </a:xfrm>
          <a:prstGeom prst="straightConnector1">
            <a:avLst/>
          </a:prstGeom>
          <a:solidFill>
            <a:schemeClr val="accent1">
              <a:alpha val="8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  <a:scene3d>
            <a:camera prst="legacyObliqueTopRight"/>
            <a:lightRig rig="legacyFlat3" dir="b"/>
          </a:scene3d>
          <a:sp3d extrusionH="277800" prstMaterial="legacyMatte">
            <a:bevelT w="13500" h="13500" prst="angle"/>
            <a:bevelB w="13500" h="13500" prst="angle"/>
            <a:extrusionClr>
              <a:schemeClr val="accent2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>
            <a:off x="3419872" y="4381882"/>
            <a:ext cx="504056" cy="0"/>
          </a:xfrm>
          <a:prstGeom prst="straightConnector1">
            <a:avLst/>
          </a:prstGeom>
          <a:ln w="28575">
            <a:headEnd type="none" w="med" len="med"/>
            <a:tailEnd type="arrow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678118" y="4209018"/>
            <a:ext cx="88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*data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678118" y="4005064"/>
            <a:ext cx="88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*tail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>
            <a:off x="3419872" y="4256047"/>
            <a:ext cx="504056" cy="0"/>
          </a:xfrm>
          <a:prstGeom prst="straightConnector1">
            <a:avLst/>
          </a:prstGeom>
          <a:ln w="28575">
            <a:headEnd type="none" w="med" len="med"/>
            <a:tailEnd type="arrow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699792" y="3429000"/>
            <a:ext cx="11618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Courier New" panose="02070309020205020404" pitchFamily="49" charset="0"/>
              </a:rPr>
              <a:t>Return tail pointer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Courier New" panose="02070309020205020404" pitchFamily="49" charset="0"/>
            </a:endParaRPr>
          </a:p>
        </p:txBody>
      </p:sp>
      <p:pic>
        <p:nvPicPr>
          <p:cNvPr id="9220" name="Picture 4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470945"/>
            <a:ext cx="1104901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38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7742E-6 L -2.5E-6 0.1522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6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49364E-6 L -2.22222E-6 0.1642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2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API</a:t>
            </a:r>
            <a:r>
              <a:rPr lang="en-US" altLang="zh-TW" dirty="0" smtClean="0"/>
              <a:t> </a:t>
            </a:r>
            <a:r>
              <a:rPr lang="en-US" altLang="zh-TW" dirty="0" smtClean="0"/>
              <a:t>-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H2C Buffer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18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1727845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u8 *h2cb_push(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h2c_buf *h2cb, u32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len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需要使用的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pointer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>
            <a:off x="3419872" y="4365104"/>
            <a:ext cx="432048" cy="0"/>
          </a:xfrm>
          <a:prstGeom prst="straightConnector1">
            <a:avLst/>
          </a:prstGeom>
          <a:solidFill>
            <a:schemeClr val="accent1">
              <a:alpha val="8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  <a:scene3d>
            <a:camera prst="legacyObliqueTopRight"/>
            <a:lightRig rig="legacyFlat3" dir="b"/>
          </a:scene3d>
          <a:sp3d extrusionH="277800" prstMaterial="legacyMatte">
            <a:bevelT w="13500" h="13500" prst="angle"/>
            <a:bevelB w="13500" h="13500" prst="angle"/>
            <a:extrusionClr>
              <a:schemeClr val="accent2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>
            <a:off x="3419872" y="4381882"/>
            <a:ext cx="504056" cy="0"/>
          </a:xfrm>
          <a:prstGeom prst="straightConnector1">
            <a:avLst/>
          </a:prstGeom>
          <a:ln w="28575">
            <a:headEnd type="none" w="med" len="med"/>
            <a:tailEnd type="arrow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678118" y="4209018"/>
            <a:ext cx="88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*data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678118" y="5136733"/>
            <a:ext cx="88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*tail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>
            <a:off x="3419872" y="5292819"/>
            <a:ext cx="504056" cy="0"/>
          </a:xfrm>
          <a:prstGeom prst="straightConnector1">
            <a:avLst/>
          </a:prstGeom>
          <a:ln w="28575">
            <a:headEnd type="none" w="med" len="med"/>
            <a:tailEnd type="arrow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555776" y="3284984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Courier New" panose="02070309020205020404" pitchFamily="49" charset="0"/>
              </a:rPr>
              <a:t>Return data pointer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Courier New" panose="02070309020205020404" pitchFamily="49" charset="0"/>
            </a:endParaRPr>
          </a:p>
        </p:txBody>
      </p:sp>
      <p:pic>
        <p:nvPicPr>
          <p:cNvPr id="9220" name="Picture 4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155" y="3470945"/>
            <a:ext cx="1104901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873" y="3475841"/>
            <a:ext cx="11049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92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88226E-6 L -2.22222E-6 -0.054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3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7606E-6 L -2.5E-6 -0.0548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475841"/>
            <a:ext cx="11049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API</a:t>
            </a:r>
            <a:r>
              <a:rPr lang="en-US" altLang="zh-TW" dirty="0" smtClean="0"/>
              <a:t> </a:t>
            </a:r>
            <a:r>
              <a:rPr lang="en-US" altLang="zh-TW" dirty="0" smtClean="0"/>
              <a:t>-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SW H2C Buffer Control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19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1727845"/>
          </a:xfrm>
        </p:spPr>
        <p:txBody>
          <a:bodyPr/>
          <a:lstStyle/>
          <a:p>
            <a:r>
              <a:rPr lang="nl-NL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u8 *h2cb_pull(struct h2c_buf *h2cb, u32 len</a:t>
            </a:r>
            <a:r>
              <a:rPr lang="nl-NL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移除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回傳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memory pointer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>
            <a:off x="3419872" y="4365104"/>
            <a:ext cx="432048" cy="0"/>
          </a:xfrm>
          <a:prstGeom prst="straightConnector1">
            <a:avLst/>
          </a:prstGeom>
          <a:solidFill>
            <a:schemeClr val="accent1">
              <a:alpha val="8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  <a:scene3d>
            <a:camera prst="legacyObliqueTopRight"/>
            <a:lightRig rig="legacyFlat3" dir="b"/>
          </a:scene3d>
          <a:sp3d extrusionH="277800" prstMaterial="legacyMatte">
            <a:bevelT w="13500" h="13500" prst="angle"/>
            <a:bevelB w="13500" h="13500" prst="angle"/>
            <a:extrusionClr>
              <a:schemeClr val="accent2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線單箭頭接點 7"/>
          <p:cNvCxnSpPr/>
          <p:nvPr/>
        </p:nvCxnSpPr>
        <p:spPr bwMode="auto">
          <a:xfrm>
            <a:off x="3419872" y="4033912"/>
            <a:ext cx="504056" cy="0"/>
          </a:xfrm>
          <a:prstGeom prst="straightConnector1">
            <a:avLst/>
          </a:prstGeom>
          <a:ln w="28575">
            <a:headEnd type="none" w="med" len="med"/>
            <a:tailEnd type="arrow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678118" y="3861048"/>
            <a:ext cx="88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*data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678118" y="5136733"/>
            <a:ext cx="880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*tail</a:t>
            </a:r>
            <a:endParaRPr lang="zh-TW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>
            <a:off x="3419872" y="5292819"/>
            <a:ext cx="504056" cy="0"/>
          </a:xfrm>
          <a:prstGeom prst="straightConnector1">
            <a:avLst/>
          </a:prstGeom>
          <a:ln w="28575">
            <a:headEnd type="none" w="med" len="med"/>
            <a:tailEnd type="arrow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627784" y="3212976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Courier New" panose="02070309020205020404" pitchFamily="49" charset="0"/>
              </a:rPr>
              <a:t>Return data pointer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Courier New" panose="02070309020205020404" pitchFamily="49" charset="0"/>
            </a:endParaRPr>
          </a:p>
        </p:txBody>
      </p:sp>
      <p:pic>
        <p:nvPicPr>
          <p:cNvPr id="9220" name="Picture 4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322" y="3475841"/>
            <a:ext cx="1104901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09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29702E-6 L -2.22222E-6 0.0594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6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4046E-6 L -2.5E-6 0.0587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9324" y="188913"/>
            <a:ext cx="8194675" cy="685800"/>
          </a:xfrm>
        </p:spPr>
        <p:txBody>
          <a:bodyPr/>
          <a:lstStyle/>
          <a:p>
            <a:pPr lvl="1"/>
            <a:r>
              <a:rPr lang="en-US" altLang="zh-TW" dirty="0" smtClean="0"/>
              <a:t>API</a:t>
            </a:r>
            <a:r>
              <a:rPr lang="en-US" altLang="zh-TW" dirty="0" smtClean="0"/>
              <a:t> </a:t>
            </a:r>
            <a:r>
              <a:rPr lang="en-US" altLang="zh-TW" dirty="0" smtClean="0"/>
              <a:t>-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and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Dequeue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20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2447925"/>
          </a:xfrm>
        </p:spPr>
        <p:txBody>
          <a:bodyPr/>
          <a:lstStyle/>
          <a:p>
            <a:r>
              <a:rPr lang="nl-NL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u32 </a:t>
            </a:r>
            <a:r>
              <a:rPr lang="nl-NL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fwcmd_wq_enqueue(struct </a:t>
            </a:r>
            <a:r>
              <a:rPr lang="nl-NL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h2c_buf *h2cb</a:t>
            </a:r>
            <a:r>
              <a:rPr lang="nl-NL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struct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h2c_buf *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fwcmd_wq_dequeue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(u32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拿出來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u32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fwcmd_wq_idle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(u32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是否有在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裡面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Note</a:t>
            </a:r>
          </a:p>
          <a:p>
            <a:pPr lvl="1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最多只能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enqueue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五個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，若超過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個必須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review FW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loading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太重，導致無法及時處理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，若評估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合理，可再放寬限制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995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9324" y="188913"/>
            <a:ext cx="8194675" cy="685800"/>
          </a:xfrm>
        </p:spPr>
        <p:txBody>
          <a:bodyPr/>
          <a:lstStyle/>
          <a:p>
            <a:pPr lvl="1"/>
            <a:r>
              <a:rPr lang="en-US" altLang="zh-TW" dirty="0" smtClean="0"/>
              <a:t>Example </a:t>
            </a:r>
            <a:r>
              <a:rPr lang="en-US" altLang="zh-TW" dirty="0" smtClean="0"/>
              <a:t>-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 CMD Loopback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21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2447925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Pre-condition</a:t>
            </a: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Loopback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128byte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長度的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 CMD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一筆回來才能再送下一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mac_fwcmd_lb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(32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len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u8 burst)</a:t>
            </a:r>
          </a:p>
        </p:txBody>
      </p:sp>
    </p:spTree>
    <p:extLst>
      <p:ext uri="{BB962C8B-B14F-4D97-AF65-F5344CB8AC3E}">
        <p14:creationId xmlns:p14="http://schemas.microsoft.com/office/powerpoint/2010/main" val="67211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9324" y="188913"/>
            <a:ext cx="8194675" cy="685800"/>
          </a:xfrm>
        </p:spPr>
        <p:txBody>
          <a:bodyPr/>
          <a:lstStyle/>
          <a:p>
            <a:pPr lvl="1"/>
            <a:r>
              <a:rPr lang="en-US" altLang="zh-TW" dirty="0" smtClean="0"/>
              <a:t>Example </a:t>
            </a:r>
            <a:r>
              <a:rPr lang="en-US" altLang="zh-TW" dirty="0" smtClean="0"/>
              <a:t>- </a:t>
            </a:r>
            <a:r>
              <a:rPr lang="en-US" altLang="zh-TW" dirty="0" smtClean="0"/>
              <a:t>TX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 Loopback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22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2447925"/>
          </a:xfrm>
        </p:spPr>
        <p:txBody>
          <a:bodyPr/>
          <a:lstStyle/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fwcmd_wq_idle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確認是否還有未處理完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CMD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loopback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h2cb_alloc(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buf_class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H2CB_CLASS_DATA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長度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128byte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，需用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class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才夠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266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320" y="2852936"/>
            <a:ext cx="6963072" cy="184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138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9324" y="188913"/>
            <a:ext cx="8194675" cy="685800"/>
          </a:xfrm>
        </p:spPr>
        <p:txBody>
          <a:bodyPr/>
          <a:lstStyle/>
          <a:p>
            <a:pPr lvl="1"/>
            <a:r>
              <a:rPr lang="en-US" altLang="zh-TW" dirty="0" smtClean="0"/>
              <a:t>Example </a:t>
            </a:r>
            <a:r>
              <a:rPr lang="en-US" altLang="zh-TW" dirty="0" smtClean="0"/>
              <a:t>- </a:t>
            </a:r>
            <a:r>
              <a:rPr lang="en-US" altLang="zh-TW" dirty="0" smtClean="0"/>
              <a:t>TX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 Loopback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23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2447925"/>
          </a:xfrm>
        </p:spPr>
        <p:txBody>
          <a:bodyPr/>
          <a:lstStyle/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h2cb_put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好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payload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h2cb_push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填好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header</a:t>
            </a: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H2cb_push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好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info</a:t>
            </a:r>
          </a:p>
        </p:txBody>
      </p:sp>
      <p:pic>
        <p:nvPicPr>
          <p:cNvPr id="12290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749005"/>
            <a:ext cx="290512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31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9324" y="188913"/>
            <a:ext cx="8194675" cy="685800"/>
          </a:xfrm>
        </p:spPr>
        <p:txBody>
          <a:bodyPr/>
          <a:lstStyle/>
          <a:p>
            <a:pPr lvl="1"/>
            <a:r>
              <a:rPr lang="en-US" altLang="zh-TW" dirty="0" smtClean="0"/>
              <a:t>Example </a:t>
            </a:r>
            <a:r>
              <a:rPr lang="en-US" altLang="zh-TW" dirty="0" smtClean="0"/>
              <a:t>- </a:t>
            </a:r>
            <a:r>
              <a:rPr lang="en-US" altLang="zh-TW" dirty="0" smtClean="0"/>
              <a:t>TX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 Loopback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24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1655837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PLTFM_TX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TX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HW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channel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fwcmd_wq_enqueue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314" name="Picture 2" descr="D:\ICs\8852A\DesignSpec\HALMAC\fwcmd\8852A_HALMAC_FW_CM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80928"/>
            <a:ext cx="2388590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96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9324" y="188913"/>
            <a:ext cx="8194675" cy="685800"/>
          </a:xfrm>
        </p:spPr>
        <p:txBody>
          <a:bodyPr/>
          <a:lstStyle/>
          <a:p>
            <a:pPr lvl="1"/>
            <a:r>
              <a:rPr lang="en-US" altLang="zh-TW" dirty="0" smtClean="0"/>
              <a:t>Example </a:t>
            </a:r>
            <a:r>
              <a:rPr lang="en-US" altLang="zh-TW" dirty="0" smtClean="0"/>
              <a:t>- </a:t>
            </a:r>
            <a:r>
              <a:rPr lang="en-US" altLang="zh-TW" dirty="0" smtClean="0"/>
              <a:t>RX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 Loopback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F95909-23E7-4B9A-8B2A-276DEE8F7C8E}" type="slidenum">
              <a:rPr lang="zh-TW" altLang="en-US" smtClean="0"/>
              <a:pPr>
                <a:defRPr/>
              </a:pPr>
              <a:t>25</a:t>
            </a:fld>
            <a:endParaRPr lang="zh-TW" altLang="en-US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971550" y="981075"/>
            <a:ext cx="7921625" cy="1655837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mac_process_c2h-&gt;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c2h_sys_cmd_lb</a:t>
            </a: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C2H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的資訊使用相對應的處理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function</a:t>
            </a: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fwcmd_wq_dequeue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將之前放到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work queue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job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拿出來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將收到的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C2H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payload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 payload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作比較，若一樣則代表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loopback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正確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h2cb_free</a:t>
            </a: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將確認無誤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H2C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buffer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歸還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94545"/>
            <a:ext cx="43338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86633"/>
            <a:ext cx="47815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088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Calibri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83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scene3d>
          <a:camera prst="legacyObliqueTopRight"/>
          <a:lightRig rig="legacyFlat3" dir="b"/>
        </a:scene3d>
        <a:sp3d extrusionH="277800" prstMaterial="legacyMatte">
          <a:bevelT w="13500" h="13500" prst="angle"/>
          <a:bevelB w="13500" h="13500" prst="angle"/>
          <a:extrusionClr>
            <a:schemeClr val="accent2"/>
          </a:extrusionClr>
        </a:sp3d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83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scene3d>
          <a:camera prst="legacyObliqueTopRight"/>
          <a:lightRig rig="legacyFlat3" dir="b"/>
        </a:scene3d>
        <a:sp3d extrusionH="277800" prstMaterial="legacyMatte">
          <a:bevelT w="13500" h="13500" prst="angle"/>
          <a:bevelB w="13500" h="13500" prst="angle"/>
          <a:extrusionClr>
            <a:schemeClr val="accent2"/>
          </a:extrusionClr>
        </a:sp3d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112628</TotalTime>
  <Words>1247</Words>
  <Application>Microsoft Office PowerPoint</Application>
  <PresentationFormat>如螢幕大小 (4:3)</PresentationFormat>
  <Paragraphs>204</Paragraphs>
  <Slides>25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6" baseType="lpstr">
      <vt:lpstr>佈景主題1</vt:lpstr>
      <vt:lpstr>8852A HALMAC FW CMD</vt:lpstr>
      <vt:lpstr>Design Goal</vt:lpstr>
      <vt:lpstr>Outline</vt:lpstr>
      <vt:lpstr>Outline</vt:lpstr>
      <vt:lpstr>SW H2C Buffer</vt:lpstr>
      <vt:lpstr>SW H2C Buffer - Command</vt:lpstr>
      <vt:lpstr>SW H2C Buffer - Data</vt:lpstr>
      <vt:lpstr>SW H2C Buffer - Long Data</vt:lpstr>
      <vt:lpstr>SW H2C Buffer - Work Queue</vt:lpstr>
      <vt:lpstr>SW H2C Buffer - Buffer Structure</vt:lpstr>
      <vt:lpstr>Handshaking - ACK </vt:lpstr>
      <vt:lpstr>Handshaking - ACK </vt:lpstr>
      <vt:lpstr>Handshaking - Master CMD </vt:lpstr>
      <vt:lpstr>Handshaking - Sequential Processing</vt:lpstr>
      <vt:lpstr>API - SW Buffer Init and Exit</vt:lpstr>
      <vt:lpstr>API - Resource Allocation  and Free</vt:lpstr>
      <vt:lpstr>API - SW H2C Buffer Control</vt:lpstr>
      <vt:lpstr>API - SW H2C Buffer Control</vt:lpstr>
      <vt:lpstr>API - SW H2C Buffer Control</vt:lpstr>
      <vt:lpstr>API - Work Queue Enqueue and Dequeue</vt:lpstr>
      <vt:lpstr>Example - FW CMD Loopback</vt:lpstr>
      <vt:lpstr>Example - TX FWCMD Loopback</vt:lpstr>
      <vt:lpstr>Example - TX FWCMD Loopback</vt:lpstr>
      <vt:lpstr>Example - TX FWCMD Loopback</vt:lpstr>
      <vt:lpstr>Example - RX FWCMD Loopback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WMAC TX intro</dc:title>
  <dc:creator>Monson_Chiang</dc:creator>
  <cp:lastModifiedBy>Ivan Lin</cp:lastModifiedBy>
  <cp:revision>1162</cp:revision>
  <cp:lastPrinted>2015-10-01T02:42:27Z</cp:lastPrinted>
  <dcterms:created xsi:type="dcterms:W3CDTF">2015-01-08T06:09:06Z</dcterms:created>
  <dcterms:modified xsi:type="dcterms:W3CDTF">2019-06-17T09:24:47Z</dcterms:modified>
</cp:coreProperties>
</file>