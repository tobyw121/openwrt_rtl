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7" r:id="rId2"/>
    <p:sldId id="397" r:id="rId3"/>
    <p:sldId id="386" r:id="rId4"/>
    <p:sldId id="419" r:id="rId5"/>
    <p:sldId id="353" r:id="rId6"/>
    <p:sldId id="420" r:id="rId7"/>
    <p:sldId id="421" r:id="rId8"/>
    <p:sldId id="422" r:id="rId9"/>
    <p:sldId id="423" r:id="rId10"/>
    <p:sldId id="424" r:id="rId11"/>
    <p:sldId id="425" r:id="rId12"/>
    <p:sldId id="426" r:id="rId13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9900"/>
    <a:srgbClr val="FF9900"/>
    <a:srgbClr val="99CC00"/>
    <a:srgbClr val="008000"/>
    <a:srgbClr val="FFCC99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90" autoAdjust="0"/>
    <p:restoredTop sz="98494" autoAdjust="0"/>
  </p:normalViewPr>
  <p:slideViewPr>
    <p:cSldViewPr>
      <p:cViewPr varScale="1">
        <p:scale>
          <a:sx n="107" d="100"/>
          <a:sy n="107" d="100"/>
        </p:scale>
        <p:origin x="1164" y="90"/>
      </p:cViewPr>
      <p:guideLst>
        <p:guide orient="horz" pos="2160"/>
        <p:guide pos="2880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AF31A619-C647-40EE-9CF2-F30F52969442}" type="datetimeFigureOut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F4C7A367-5074-4AC6-B575-5699B176E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054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293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17FCAF56-DA37-4FE2-A5C7-7589D849C00D}" type="datetimeFigureOut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821"/>
            <a:ext cx="5445760" cy="447238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293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90673C58-2576-47A5-8A09-76E45EA5C2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7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4A266-3723-4804-AE5E-B4F1483663B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01A07-B109-4B77-A4E0-09428898BEC7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9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95909-23E7-4B9A-8B2A-276DEE8F7C8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1FB8-6F8E-4967-9BFF-9D687854EAEC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87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FF3F-5283-4850-BB9D-FA85E905465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C4E42-D7F6-4FF8-AA89-216BF1C86293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1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71550" y="981075"/>
            <a:ext cx="3884613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08563" y="981075"/>
            <a:ext cx="3884612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1148E-AB1B-4D23-A6F0-EF1645C945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9FD07-29A0-4324-BAD3-5B992F5BDA63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97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4DFBB-7A55-4FE0-A5DF-70AD758ECCF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44602-CB3D-41B0-833A-E79DD9BC1067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1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BDC88-9B22-4A1C-8C1A-F41DBE44EF1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3EFE2-CD3B-4B20-B301-343ABF5BA675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19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69F40-0888-4F2A-A624-792C853E5C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9D69D-C814-4249-BC23-F04D21B1BB43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6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E4A0A-B2D7-4E48-BCA7-E02FD909F64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CC1B9-EBF5-4EA4-973D-5A963C2EC0B2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A5670-C82C-48B0-A8E2-26A66BF0C09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4154-3CA0-4C9B-8F49-62EECEED64A0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05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76DB2-5482-4C40-9C42-15D75BE0B70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0ECFA-4611-4AD3-B77C-F0A18AC342B3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25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907213" y="188913"/>
            <a:ext cx="1985962" cy="55451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49325" y="188913"/>
            <a:ext cx="5805488" cy="55451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9BB1A-677D-4819-A532-3E748EA595D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22898-EDD1-4373-9319-37343F73154A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6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0" y="6427788"/>
            <a:ext cx="8382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 b="1" smtClean="0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fld id="{2125A2A3-3386-4762-8E7F-53C303B757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57313" y="6453188"/>
            <a:ext cx="2809875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mtClean="0">
                <a:solidFill>
                  <a:schemeClr val="bg1"/>
                </a:solidFill>
                <a:latin typeface="+mn-lt"/>
                <a:ea typeface="新細明體" pitchFamily="18" charset="-120"/>
                <a:cs typeface="Arial" pitchFamily="34" charset="0"/>
              </a:defRPr>
            </a:lvl1pPr>
          </a:lstStyle>
          <a:p>
            <a:pPr>
              <a:defRPr/>
            </a:pPr>
            <a:fld id="{CACBBDE8-9449-4D2B-B471-3E61EC1942D2}" type="datetime1">
              <a:rPr lang="zh-TW" altLang="en-US" smtClean="0"/>
              <a:t>2021/3/25</a:t>
            </a:fld>
            <a:endParaRPr lang="zh-TW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36700" y="6297613"/>
            <a:ext cx="19939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1550" y="981075"/>
            <a:ext cx="79216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949325" y="188913"/>
            <a:ext cx="7943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投影片編號版面配置區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  <a:fld id="{7C907533-8BD8-4974-849E-A921CC5F2B76}" type="slidenum"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1</a:t>
            </a:fld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</a:p>
        </p:txBody>
      </p:sp>
      <p:sp>
        <p:nvSpPr>
          <p:cNvPr id="2051" name="日期版面配置區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kumimoji="0" lang="en-US" altLang="en-US" sz="1000" smtClean="0">
                <a:solidFill>
                  <a:schemeClr val="tx1"/>
                </a:solidFill>
                <a:latin typeface="Arial" pitchFamily="34" charset="0"/>
                <a:ea typeface="Osaka"/>
              </a:rPr>
              <a:t>Copyright </a:t>
            </a:r>
            <a:r>
              <a:rPr kumimoji="0" lang="en-US" altLang="en-US" sz="1000" b="0" smtClean="0">
                <a:solidFill>
                  <a:schemeClr val="tx1"/>
                </a:solidFill>
                <a:latin typeface="Times" pitchFamily="18" charset="0"/>
                <a:ea typeface="Osaka"/>
              </a:rPr>
              <a:t>©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200</a:t>
            </a:r>
            <a:r>
              <a:rPr kumimoji="0" lang="en-US" altLang="zh-TW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7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Realtek Semiconductor Corp.</a:t>
            </a:r>
            <a:endParaRPr kumimoji="0" lang="en-US" altLang="zh-TW" sz="1000" b="0" smtClean="0">
              <a:solidFill>
                <a:schemeClr val="tx1"/>
              </a:solidFill>
              <a:latin typeface="Arial" pitchFamily="34" charset="0"/>
              <a:ea typeface="Osaka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2141984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TW" sz="3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HALMAC</a:t>
            </a:r>
            <a:r>
              <a:rPr lang="zh-TW" alt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Write IO Offload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92624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yclin6797</a:t>
            </a:r>
            <a:endParaRPr lang="en-US" altLang="zh-TW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34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Goal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Reduces USB registers latency in time restrictions scenario. </a:t>
            </a:r>
            <a:r>
              <a:rPr lang="en-US" altLang="zh-TW" dirty="0"/>
              <a:t>Ex. </a:t>
            </a:r>
            <a:r>
              <a:rPr lang="en-US" altLang="zh-TW" dirty="0" smtClean="0"/>
              <a:t>Scan channels</a:t>
            </a:r>
            <a:endParaRPr lang="en-US" altLang="zh-TW" dirty="0"/>
          </a:p>
          <a:p>
            <a:r>
              <a:rPr lang="en-US" altLang="zh-TW" dirty="0" smtClean="0"/>
              <a:t>Prevents from HW issues host &amp; FW accesses CMAC registers at the same time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0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6839" y="980728"/>
            <a:ext cx="7921625" cy="5904656"/>
          </a:xfrm>
        </p:spPr>
        <p:txBody>
          <a:bodyPr/>
          <a:lstStyle/>
          <a:p>
            <a:r>
              <a:rPr lang="en-US" altLang="zh-TW" dirty="0" smtClean="0">
                <a:ea typeface="微軟正黑體" panose="020B0604030504040204" pitchFamily="34" charset="-120"/>
              </a:rPr>
              <a:t>Overview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Overview Flow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Event Notifications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ea typeface="微軟正黑體" panose="020B0604030504040204" pitchFamily="34" charset="-120"/>
              </a:rPr>
              <a:t>Write IO Offload in Detail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API &amp; Input Parameters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Flow Chart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Return Values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Macros in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halmac</a:t>
            </a:r>
            <a:endParaRPr lang="en-US" altLang="zh-TW" dirty="0" smtClean="0"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95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20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 Flow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2519933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Write IO o</a:t>
            </a:r>
            <a:r>
              <a:rPr lang="en-US" altLang="zh-TW" dirty="0" smtClean="0">
                <a:ea typeface="微軟正黑體" panose="020B0604030504040204" pitchFamily="34" charset="-120"/>
              </a:rPr>
              <a:t>ffload </a:t>
            </a:r>
            <a:r>
              <a:rPr lang="zh-TW" altLang="en-US" dirty="0" smtClean="0">
                <a:ea typeface="微軟正黑體" panose="020B0604030504040204" pitchFamily="34" charset="-120"/>
              </a:rPr>
              <a:t>是把 </a:t>
            </a:r>
            <a:r>
              <a:rPr lang="en-US" altLang="zh-TW" dirty="0" smtClean="0">
                <a:ea typeface="微軟正黑體" panose="020B0604030504040204" pitchFamily="34" charset="-120"/>
              </a:rPr>
              <a:t>1</a:t>
            </a:r>
            <a:r>
              <a:rPr lang="zh-TW" altLang="en-US" dirty="0" smtClean="0">
                <a:ea typeface="微軟正黑體" panose="020B0604030504040204" pitchFamily="34" charset="-120"/>
              </a:rPr>
              <a:t> 至數個 </a:t>
            </a:r>
            <a:r>
              <a:rPr lang="en-US" altLang="zh-TW" dirty="0" smtClean="0">
                <a:ea typeface="微軟正黑體" panose="020B0604030504040204" pitchFamily="34" charset="-120"/>
              </a:rPr>
              <a:t>IO</a:t>
            </a:r>
            <a:r>
              <a:rPr lang="zh-TW" altLang="en-US" dirty="0" smtClean="0">
                <a:ea typeface="微軟正黑體" panose="020B0604030504040204" pitchFamily="34" charset="-120"/>
              </a:rPr>
              <a:t> 合併到一個 </a:t>
            </a:r>
            <a:r>
              <a:rPr lang="en-US" altLang="zh-TW" dirty="0" smtClean="0"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ea typeface="微軟正黑體" panose="020B0604030504040204" pitchFamily="34" charset="-120"/>
              </a:rPr>
              <a:t> 內、</a:t>
            </a:r>
            <a:r>
              <a:rPr lang="en-US" altLang="zh-TW" dirty="0" smtClean="0">
                <a:ea typeface="微軟正黑體" panose="020B0604030504040204" pitchFamily="34" charset="-120"/>
              </a:rPr>
              <a:t>FW</a:t>
            </a:r>
            <a:r>
              <a:rPr lang="zh-TW" altLang="en-US" dirty="0" smtClean="0">
                <a:ea typeface="微軟正黑體" panose="020B0604030504040204" pitchFamily="34" charset="-120"/>
              </a:rPr>
              <a:t> 收到 </a:t>
            </a:r>
            <a:r>
              <a:rPr lang="en-US" altLang="zh-TW" dirty="0" smtClean="0">
                <a:ea typeface="微軟正黑體" panose="020B0604030504040204" pitchFamily="34" charset="-120"/>
              </a:rPr>
              <a:t>H2C </a:t>
            </a:r>
            <a:r>
              <a:rPr lang="zh-TW" altLang="en-US" dirty="0" smtClean="0">
                <a:ea typeface="微軟正黑體" panose="020B0604030504040204" pitchFamily="34" charset="-120"/>
              </a:rPr>
              <a:t>後執行 </a:t>
            </a:r>
            <a:r>
              <a:rPr lang="en-US" altLang="zh-TW" dirty="0" smtClean="0">
                <a:ea typeface="微軟正黑體" panose="020B0604030504040204" pitchFamily="34" charset="-120"/>
              </a:rPr>
              <a:t>H2C </a:t>
            </a:r>
            <a:r>
              <a:rPr lang="zh-TW" altLang="en-US" dirty="0" smtClean="0">
                <a:ea typeface="微軟正黑體" panose="020B0604030504040204" pitchFamily="34" charset="-120"/>
              </a:rPr>
              <a:t>內的 </a:t>
            </a:r>
            <a:r>
              <a:rPr lang="en-US" altLang="zh-TW" dirty="0" smtClean="0">
                <a:ea typeface="微軟正黑體" panose="020B0604030504040204" pitchFamily="34" charset="-120"/>
              </a:rPr>
              <a:t>IO</a:t>
            </a:r>
            <a:r>
              <a:rPr lang="zh-TW" altLang="en-US" dirty="0" smtClean="0"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ea typeface="微軟正黑體" panose="020B0604030504040204" pitchFamily="34" charset="-120"/>
              </a:rPr>
              <a:t>下完 </a:t>
            </a:r>
            <a:r>
              <a:rPr lang="en-US" altLang="zh-TW" dirty="0" smtClean="0">
                <a:ea typeface="微軟正黑體" panose="020B0604030504040204" pitchFamily="34" charset="-120"/>
              </a:rPr>
              <a:t>H2C </a:t>
            </a:r>
            <a:r>
              <a:rPr lang="zh-TW" altLang="en-US" dirty="0" smtClean="0">
                <a:ea typeface="微軟正黑體" panose="020B0604030504040204" pitchFamily="34" charset="-120"/>
              </a:rPr>
              <a:t>後、會用 </a:t>
            </a:r>
            <a:r>
              <a:rPr lang="en-US" altLang="zh-TW" dirty="0" smtClean="0">
                <a:ea typeface="微軟正黑體" panose="020B0604030504040204" pitchFamily="34" charset="-120"/>
              </a:rPr>
              <a:t>Busy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Waiting</a:t>
            </a:r>
            <a:r>
              <a:rPr lang="zh-TW" altLang="en-US" dirty="0" smtClean="0">
                <a:ea typeface="微軟正黑體" panose="020B0604030504040204" pitchFamily="34" charset="-120"/>
              </a:rPr>
              <a:t> 的方式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FW </a:t>
            </a:r>
            <a:r>
              <a:rPr lang="zh-TW" altLang="en-US" dirty="0">
                <a:ea typeface="微軟正黑體" panose="020B0604030504040204" pitchFamily="34" charset="-120"/>
              </a:rPr>
              <a:t>是否完成；</a:t>
            </a:r>
            <a:r>
              <a:rPr lang="zh-TW" altLang="en-US" dirty="0" smtClean="0">
                <a:ea typeface="微軟正黑體" panose="020B0604030504040204" pitchFamily="34" charset="-120"/>
              </a:rPr>
              <a:t>同時禁止其他 </a:t>
            </a:r>
            <a:r>
              <a:rPr lang="en-US" altLang="zh-TW" dirty="0">
                <a:ea typeface="微軟正黑體" panose="020B0604030504040204" pitchFamily="34" charset="-120"/>
              </a:rPr>
              <a:t>function</a:t>
            </a:r>
            <a:r>
              <a:rPr lang="zh-TW" altLang="en-US" dirty="0">
                <a:ea typeface="微軟正黑體" panose="020B0604030504040204" pitchFamily="34" charset="-120"/>
              </a:rPr>
              <a:t> 執行 </a:t>
            </a:r>
            <a:r>
              <a:rPr lang="en-US" altLang="zh-TW" dirty="0">
                <a:ea typeface="微軟正黑體" panose="020B0604030504040204" pitchFamily="34" charset="-120"/>
              </a:rPr>
              <a:t>Write IO </a:t>
            </a:r>
            <a:r>
              <a:rPr lang="en-US" altLang="zh-TW" dirty="0" smtClean="0">
                <a:ea typeface="微軟正黑體" panose="020B0604030504040204" pitchFamily="34" charset="-120"/>
              </a:rPr>
              <a:t>offload</a:t>
            </a:r>
            <a:r>
              <a:rPr lang="zh-TW" altLang="en-US" dirty="0">
                <a:ea typeface="微軟正黑體" panose="020B0604030504040204" pitchFamily="34" charset="-120"/>
              </a:rPr>
              <a:t>，</a:t>
            </a:r>
            <a:r>
              <a:rPr lang="zh-TW" altLang="en-US" dirty="0" smtClean="0">
                <a:ea typeface="微軟正黑體" panose="020B0604030504040204" pitchFamily="34" charset="-120"/>
              </a:rPr>
              <a:t>以避免 </a:t>
            </a:r>
            <a:r>
              <a:rPr lang="en-US" altLang="zh-TW" dirty="0" smtClean="0">
                <a:ea typeface="微軟正黑體" panose="020B0604030504040204" pitchFamily="34" charset="-120"/>
              </a:rPr>
              <a:t>Race condition</a:t>
            </a:r>
            <a:r>
              <a:rPr lang="zh-TW" altLang="en-US" dirty="0" smtClean="0"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Polling period: 50us</a:t>
            </a:r>
            <a:r>
              <a:rPr lang="zh-TW" altLang="en-US" dirty="0" smtClean="0"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 count: 1000</a:t>
            </a:r>
            <a:r>
              <a:rPr lang="zh-TW" altLang="en-US" dirty="0" smtClean="0">
                <a:ea typeface="微軟正黑體" panose="020B0604030504040204" pitchFamily="34" charset="-120"/>
              </a:rPr>
              <a:t>。共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 50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ms</a:t>
            </a:r>
            <a:r>
              <a:rPr lang="zh-TW" altLang="en-US" dirty="0" smtClean="0"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Flow </a:t>
            </a:r>
            <a:r>
              <a:rPr lang="zh-TW" altLang="en-US" dirty="0" smtClean="0">
                <a:ea typeface="微軟正黑體" panose="020B0604030504040204" pitchFamily="34" charset="-120"/>
              </a:rPr>
              <a:t>如下</a:t>
            </a:r>
            <a:r>
              <a:rPr lang="en-US" altLang="zh-TW" dirty="0" smtClean="0">
                <a:ea typeface="微軟正黑體" panose="020B0604030504040204" pitchFamily="34" charset="-120"/>
              </a:rPr>
              <a:t>:</a:t>
            </a:r>
            <a:endParaRPr lang="en-US" altLang="zh-TW" dirty="0" smtClean="0"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59" y="3100438"/>
            <a:ext cx="7577682" cy="37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4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微軟正黑體" panose="020B0604030504040204" pitchFamily="34" charset="-120"/>
              </a:rPr>
              <a:t>Event </a:t>
            </a:r>
            <a:r>
              <a:rPr lang="en-US" altLang="zh-TW" dirty="0" smtClean="0">
                <a:ea typeface="微軟正黑體" panose="020B0604030504040204" pitchFamily="34" charset="-120"/>
              </a:rPr>
              <a:t>Notifications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200" dirty="0">
                <a:ea typeface="微軟正黑體" panose="020B0604030504040204" pitchFamily="34" charset="-120"/>
              </a:rPr>
              <a:t>MSG_EVT_DATA_PATH_START</a:t>
            </a:r>
            <a:r>
              <a:rPr lang="zh-TW" altLang="en-US" sz="2200" dirty="0">
                <a:ea typeface="微軟正黑體" panose="020B0604030504040204" pitchFamily="34" charset="-120"/>
              </a:rPr>
              <a:t> </a:t>
            </a:r>
            <a:r>
              <a:rPr lang="en-US" altLang="zh-TW" sz="2200" dirty="0">
                <a:ea typeface="微軟正黑體" panose="020B0604030504040204" pitchFamily="34" charset="-120"/>
              </a:rPr>
              <a:t>&amp;</a:t>
            </a:r>
            <a:r>
              <a:rPr lang="zh-TW" altLang="en-US" sz="2200" dirty="0">
                <a:ea typeface="微軟正黑體" panose="020B0604030504040204" pitchFamily="34" charset="-120"/>
              </a:rPr>
              <a:t> </a:t>
            </a:r>
            <a:r>
              <a:rPr lang="en-US" altLang="zh-TW" sz="2200" dirty="0">
                <a:ea typeface="微軟正黑體" panose="020B0604030504040204" pitchFamily="34" charset="-120"/>
              </a:rPr>
              <a:t>MSG_EVT_DATA_PATH_STOP</a:t>
            </a:r>
          </a:p>
          <a:p>
            <a:pPr lvl="1"/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為了避免讀寫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Registers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造成的</a:t>
            </a:r>
            <a:r>
              <a:rPr lang="zh-TW" altLang="en-US" dirty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Latency</a:t>
            </a:r>
            <a:r>
              <a:rPr lang="zh-TW" altLang="en-US" dirty="0">
                <a:ea typeface="微軟正黑體" panose="020B0604030504040204" pitchFamily="34" charset="-120"/>
                <a:cs typeface="+mn-cs"/>
              </a:rPr>
              <a:t>、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有兩種方式可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Polling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FW: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Registers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&amp;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C2H</a:t>
            </a:r>
            <a:r>
              <a:rPr lang="zh-TW" altLang="en-US" dirty="0" smtClean="0"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  <a:cs typeface="+mn-cs"/>
              </a:rPr>
              <a:t>packets</a:t>
            </a:r>
          </a:p>
          <a:p>
            <a:pPr lvl="1"/>
            <a:r>
              <a:rPr lang="zh-TW" altLang="en-US" dirty="0" smtClean="0">
                <a:ea typeface="微軟正黑體" panose="020B0604030504040204" pitchFamily="34" charset="-120"/>
              </a:rPr>
              <a:t>收到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MSG_EVT_DATA_PATH_START: </a:t>
            </a:r>
            <a:r>
              <a:rPr lang="zh-TW" altLang="en-US" dirty="0" smtClean="0">
                <a:ea typeface="微軟正黑體" panose="020B0604030504040204" pitchFamily="34" charset="-120"/>
              </a:rPr>
              <a:t>用 </a:t>
            </a:r>
            <a:r>
              <a:rPr lang="en-US" altLang="zh-TW" dirty="0" smtClean="0">
                <a:ea typeface="微軟正黑體" panose="020B0604030504040204" pitchFamily="34" charset="-120"/>
              </a:rPr>
              <a:t>C2H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packets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</a:t>
            </a:r>
          </a:p>
          <a:p>
            <a:pPr lvl="1"/>
            <a:r>
              <a:rPr lang="zh-TW" altLang="en-US" dirty="0" smtClean="0">
                <a:ea typeface="微軟正黑體" panose="020B0604030504040204" pitchFamily="34" charset="-120"/>
              </a:rPr>
              <a:t>收到 </a:t>
            </a:r>
            <a:r>
              <a:rPr lang="en-US" altLang="zh-TW" dirty="0" smtClean="0">
                <a:ea typeface="微軟正黑體" panose="020B0604030504040204" pitchFamily="34" charset="-120"/>
              </a:rPr>
              <a:t>MSG_EVT_DATA_PATH_STOP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&amp;</a:t>
            </a:r>
            <a:r>
              <a:rPr lang="zh-TW" altLang="en-US" dirty="0" smtClean="0">
                <a:ea typeface="微軟正黑體" panose="020B0604030504040204" pitchFamily="34" charset="-120"/>
              </a:rPr>
              <a:t> 預設</a:t>
            </a:r>
            <a:r>
              <a:rPr lang="en-US" altLang="zh-TW" dirty="0" smtClean="0">
                <a:ea typeface="微軟正黑體" panose="020B0604030504040204" pitchFamily="34" charset="-120"/>
              </a:rPr>
              <a:t>: </a:t>
            </a:r>
            <a:r>
              <a:rPr lang="zh-TW" altLang="en-US" dirty="0" smtClean="0">
                <a:ea typeface="微軟正黑體" panose="020B0604030504040204" pitchFamily="34" charset="-120"/>
              </a:rPr>
              <a:t>用 </a:t>
            </a:r>
            <a:r>
              <a:rPr lang="en-US" altLang="zh-TW" dirty="0" smtClean="0">
                <a:ea typeface="微軟正黑體" panose="020B0604030504040204" pitchFamily="34" charset="-120"/>
              </a:rPr>
              <a:t>Registers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</a:t>
            </a:r>
            <a:endParaRPr lang="en-US" altLang="zh-TW" dirty="0" smtClean="0">
              <a:ea typeface="微軟正黑體" panose="020B0604030504040204" pitchFamily="34" charset="-120"/>
              <a:cs typeface="+mn-cs"/>
            </a:endParaRPr>
          </a:p>
          <a:p>
            <a:r>
              <a:rPr lang="en-US" altLang="zh-TW" sz="2200" dirty="0" smtClean="0">
                <a:ea typeface="微軟正黑體" panose="020B0604030504040204" pitchFamily="34" charset="-120"/>
              </a:rPr>
              <a:t>MSG_EVT_SURPRISE_REMOVE</a:t>
            </a:r>
          </a:p>
          <a:p>
            <a:pPr lvl="1"/>
            <a:r>
              <a:rPr lang="zh-TW" altLang="en-US" dirty="0" smtClean="0">
                <a:ea typeface="微軟正黑體" panose="020B0604030504040204" pitchFamily="34" charset="-120"/>
              </a:rPr>
              <a:t>因為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 FW </a:t>
            </a:r>
            <a:r>
              <a:rPr lang="zh-TW" altLang="en-US" dirty="0" smtClean="0">
                <a:ea typeface="微軟正黑體" panose="020B0604030504040204" pitchFamily="34" charset="-120"/>
              </a:rPr>
              <a:t>時間長達 </a:t>
            </a:r>
            <a:r>
              <a:rPr lang="en-US" altLang="zh-TW" dirty="0" smtClean="0">
                <a:ea typeface="微軟正黑體" panose="020B0604030504040204" pitchFamily="34" charset="-120"/>
              </a:rPr>
              <a:t>50ms</a:t>
            </a:r>
            <a:r>
              <a:rPr lang="zh-TW" altLang="en-US" dirty="0" smtClean="0">
                <a:ea typeface="微軟正黑體" panose="020B0604030504040204" pitchFamily="34" charset="-120"/>
              </a:rPr>
              <a:t>，避免 </a:t>
            </a:r>
            <a:r>
              <a:rPr lang="en-US" altLang="zh-TW" dirty="0" smtClean="0">
                <a:ea typeface="微軟正黑體" panose="020B0604030504040204" pitchFamily="34" charset="-120"/>
              </a:rPr>
              <a:t>Driver </a:t>
            </a:r>
            <a:r>
              <a:rPr lang="zh-TW" altLang="en-US" dirty="0" smtClean="0">
                <a:ea typeface="微軟正黑體" panose="020B0604030504040204" pitchFamily="34" charset="-120"/>
              </a:rPr>
              <a:t>發生 </a:t>
            </a:r>
            <a:r>
              <a:rPr lang="en-US" altLang="zh-TW" dirty="0" smtClean="0">
                <a:ea typeface="微軟正黑體" panose="020B0604030504040204" pitchFamily="34" charset="-120"/>
              </a:rPr>
              <a:t>Surprise</a:t>
            </a:r>
            <a:r>
              <a:rPr lang="zh-TW" altLang="en-US" dirty="0" smtClean="0"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ea typeface="微軟正黑體" panose="020B0604030504040204" pitchFamily="34" charset="-120"/>
              </a:rPr>
              <a:t>remove</a:t>
            </a:r>
            <a:r>
              <a:rPr lang="zh-TW" altLang="en-US" dirty="0" smtClean="0">
                <a:ea typeface="微軟正黑體" panose="020B0604030504040204" pitchFamily="34" charset="-120"/>
              </a:rPr>
              <a:t> 後還在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</a:t>
            </a:r>
            <a:r>
              <a:rPr lang="zh-TW" altLang="en-US" dirty="0" smtClean="0">
                <a:ea typeface="微軟正黑體" panose="020B0604030504040204" pitchFamily="34" charset="-120"/>
              </a:rPr>
              <a:t> 導致 </a:t>
            </a:r>
            <a:r>
              <a:rPr lang="en-US" altLang="zh-TW" dirty="0" smtClean="0">
                <a:ea typeface="微軟正黑體" panose="020B0604030504040204" pitchFamily="34" charset="-120"/>
              </a:rPr>
              <a:t>Driver</a:t>
            </a:r>
            <a:r>
              <a:rPr lang="zh-TW" altLang="en-US" dirty="0" smtClean="0">
                <a:ea typeface="微軟正黑體" panose="020B0604030504040204" pitchFamily="34" charset="-120"/>
              </a:rPr>
              <a:t> 無法退出，收到 </a:t>
            </a:r>
            <a:r>
              <a:rPr lang="en-US" altLang="zh-TW" dirty="0" smtClean="0">
                <a:ea typeface="微軟正黑體" panose="020B0604030504040204" pitchFamily="34" charset="-120"/>
              </a:rPr>
              <a:t>MSG_EVT_SURPRISE_REMOVE</a:t>
            </a:r>
            <a:r>
              <a:rPr lang="zh-TW" altLang="en-US" dirty="0" smtClean="0">
                <a:ea typeface="微軟正黑體" panose="020B0604030504040204" pitchFamily="34" charset="-120"/>
              </a:rPr>
              <a:t> 後會停止 </a:t>
            </a:r>
            <a:r>
              <a:rPr lang="en-US" altLang="zh-TW" dirty="0" smtClean="0">
                <a:ea typeface="微軟正黑體" panose="020B0604030504040204" pitchFamily="34" charset="-120"/>
              </a:rPr>
              <a:t>Polling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61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微軟正黑體" panose="020B0604030504040204" pitchFamily="34" charset="-120"/>
              </a:rPr>
              <a:t>Write IO Offload in Detail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07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API &amp; Input </a:t>
            </a:r>
            <a:r>
              <a:rPr lang="en-US" altLang="zh-TW" dirty="0"/>
              <a:t>Parameters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5446713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ea typeface="微軟正黑體" panose="020B0604030504040204" pitchFamily="34" charset="-120"/>
              </a:rPr>
              <a:t>API: </a:t>
            </a:r>
            <a:r>
              <a:rPr lang="en-US" altLang="zh-TW" dirty="0" err="1" smtClean="0">
                <a:latin typeface="Consolas" panose="020B0609020204030204" pitchFamily="49" charset="0"/>
                <a:ea typeface="微軟正黑體" panose="020B0604030504040204" pitchFamily="34" charset="-120"/>
              </a:rPr>
              <a:t>add_cmd_ofld</a:t>
            </a:r>
            <a:endParaRPr lang="en-US" altLang="zh-TW" dirty="0" smtClean="0">
              <a:latin typeface="Consolas" panose="020B0609020204030204" pitchFamily="49" charset="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ea typeface="微軟正黑體" panose="020B0604030504040204" pitchFamily="34" charset="-120"/>
              </a:rPr>
              <a:t>Parameters:</a:t>
            </a:r>
          </a:p>
          <a:p>
            <a:pPr lvl="1"/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struct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mac_ax_adapter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*</a:t>
            </a:r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adapter</a:t>
            </a:r>
            <a:r>
              <a:rPr lang="en-US" altLang="zh-TW" dirty="0" smtClean="0">
                <a:ea typeface="微軟正黑體" panose="020B0604030504040204" pitchFamily="34" charset="-120"/>
              </a:rPr>
              <a:t>: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halmac</a:t>
            </a:r>
            <a:r>
              <a:rPr lang="en-US" altLang="zh-TW" dirty="0" smtClean="0">
                <a:ea typeface="微軟正黑體" panose="020B0604030504040204" pitchFamily="34" charset="-120"/>
              </a:rPr>
              <a:t> adapter</a:t>
            </a:r>
          </a:p>
          <a:p>
            <a:pPr lvl="1"/>
            <a:r>
              <a:rPr lang="en-US" altLang="zh-TW" dirty="0" err="1" smtClean="0">
                <a:latin typeface="Consolas" panose="020B0609020204030204" pitchFamily="49" charset="0"/>
                <a:ea typeface="微軟正黑體" panose="020B0604030504040204" pitchFamily="34" charset="-120"/>
              </a:rPr>
              <a:t>struct</a:t>
            </a:r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rtw_mac_cmd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*</a:t>
            </a:r>
            <a:r>
              <a:rPr lang="en-US" altLang="zh-TW" dirty="0" err="1" smtClean="0">
                <a:latin typeface="Consolas" panose="020B0609020204030204" pitchFamily="49" charset="0"/>
                <a:ea typeface="微軟正黑體" panose="020B0604030504040204" pitchFamily="34" charset="-120"/>
              </a:rPr>
              <a:t>cmd</a:t>
            </a:r>
            <a:r>
              <a:rPr lang="en-US" altLang="zh-TW" dirty="0" smtClean="0">
                <a:ea typeface="微軟正黑體" panose="020B0604030504040204" pitchFamily="34" charset="-120"/>
              </a:rPr>
              <a:t>: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enum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rtw_mac_cmd_type_ofld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type</a:t>
            </a:r>
          </a:p>
          <a:p>
            <a:pPr lvl="3"/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RTW_MAC_WRITE_OFLD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write register</a:t>
            </a:r>
          </a:p>
          <a:p>
            <a:pPr lvl="3"/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RTW_MAC_COMPARE_OFLD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polling register</a:t>
            </a:r>
          </a:p>
          <a:p>
            <a:pPr lvl="3"/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RTW_MAC_DELAY_OFLD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delay specific us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enum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rtw_mac_src_cmd_ofld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 smtClean="0">
                <a:latin typeface="Consolas" panose="020B0609020204030204" pitchFamily="49" charset="0"/>
                <a:ea typeface="微軟正黑體" panose="020B0604030504040204" pitchFamily="34" charset="-120"/>
              </a:rPr>
              <a:t>src</a:t>
            </a:r>
            <a:endParaRPr lang="en-US" altLang="zh-TW" dirty="0" smtClean="0">
              <a:latin typeface="Consolas" panose="020B0609020204030204" pitchFamily="49" charset="0"/>
              <a:ea typeface="微軟正黑體" panose="020B0604030504040204" pitchFamily="34" charset="-120"/>
            </a:endParaRPr>
          </a:p>
          <a:p>
            <a:pPr lvl="3"/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RTW_MAC_BB_CMD_OFLD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0x1861000 ~ 0x1861FFFF</a:t>
            </a:r>
          </a:p>
          <a:p>
            <a:pPr lvl="3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RTW_MAC_RF_CMD_OFLD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RF registers</a:t>
            </a:r>
          </a:p>
          <a:p>
            <a:pPr lvl="3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RTW_MAC_MAC_CMD_OFLD</a:t>
            </a:r>
            <a:r>
              <a:rPr lang="en-US" altLang="zh-TW" dirty="0" smtClean="0">
                <a:ea typeface="微軟正黑體" panose="020B0604030504040204" pitchFamily="34" charset="-120"/>
              </a:rPr>
              <a:t>: 0x1860000 ~ 0x1860FFFF</a:t>
            </a:r>
          </a:p>
          <a:p>
            <a:pPr lvl="2"/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enum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rtw_mac_rf_path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rf_path</a:t>
            </a:r>
            <a:r>
              <a:rPr lang="en-US" altLang="zh-TW" dirty="0" smtClean="0">
                <a:ea typeface="微軟正黑體" panose="020B0604030504040204" pitchFamily="34" charset="-120"/>
              </a:rPr>
              <a:t>: RF path A~D</a:t>
            </a:r>
          </a:p>
          <a:p>
            <a:pPr lvl="2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offset</a:t>
            </a:r>
            <a:r>
              <a:rPr lang="en-US" altLang="zh-TW" dirty="0" smtClean="0">
                <a:ea typeface="微軟正黑體" panose="020B0604030504040204" pitchFamily="34" charset="-120"/>
              </a:rPr>
              <a:t>: the register offset according to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src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2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mask</a:t>
            </a:r>
            <a:r>
              <a:rPr lang="en-US" altLang="zh-TW" dirty="0" smtClean="0">
                <a:ea typeface="微軟正黑體" panose="020B0604030504040204" pitchFamily="34" charset="-120"/>
              </a:rPr>
              <a:t>: write/polling mask</a:t>
            </a:r>
          </a:p>
          <a:p>
            <a:pPr lvl="2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value</a:t>
            </a:r>
            <a:r>
              <a:rPr lang="en-US" altLang="zh-TW" dirty="0" smtClean="0">
                <a:ea typeface="微軟正黑體" panose="020B0604030504040204" pitchFamily="34" charset="-120"/>
              </a:rPr>
              <a:t>: write/polling value. The value is SHIFTED value.</a:t>
            </a:r>
          </a:p>
          <a:p>
            <a:pPr lvl="2"/>
            <a:r>
              <a:rPr lang="en-US" altLang="zh-TW" dirty="0" smtClean="0">
                <a:latin typeface="Consolas" panose="020B0609020204030204" pitchFamily="49" charset="0"/>
                <a:ea typeface="微軟正黑體" panose="020B0604030504040204" pitchFamily="34" charset="-120"/>
              </a:rPr>
              <a:t>ls</a:t>
            </a:r>
            <a:r>
              <a:rPr lang="en-US" altLang="zh-TW" dirty="0" smtClean="0">
                <a:ea typeface="微軟正黑體" panose="020B0604030504040204" pitchFamily="34" charset="-120"/>
              </a:rPr>
              <a:t>: 1: send H2C with aggregated IOs to FW. 0: temporally save IOs</a:t>
            </a:r>
          </a:p>
          <a:p>
            <a:pPr lvl="2"/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id</a:t>
            </a:r>
            <a:r>
              <a:rPr lang="en-US" altLang="zh-TW" dirty="0" smtClean="0">
                <a:ea typeface="微軟正黑體" panose="020B0604030504040204" pitchFamily="34" charset="-120"/>
              </a:rPr>
              <a:t>: currently, the field is NOT used.</a:t>
            </a:r>
          </a:p>
          <a:p>
            <a:pPr lvl="3"/>
            <a:endParaRPr lang="en-US" altLang="zh-TW" dirty="0" smtClean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108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Flow Chart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08" y="431382"/>
            <a:ext cx="3487392" cy="645360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014" y="178254"/>
            <a:ext cx="3825733" cy="651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Return Value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  <p:graphicFrame>
        <p:nvGraphicFramePr>
          <p:cNvPr id="3" name="內容版面配置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026283"/>
              </p:ext>
            </p:extLst>
          </p:nvPr>
        </p:nvGraphicFramePr>
        <p:xfrm>
          <a:off x="755650" y="981075"/>
          <a:ext cx="7921626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10">
                  <a:extLst>
                    <a:ext uri="{9D8B030D-6E8A-4147-A177-3AD203B41FA5}">
                      <a16:colId xmlns:a16="http://schemas.microsoft.com/office/drawing/2014/main" val="1740688230"/>
                    </a:ext>
                  </a:extLst>
                </a:gridCol>
                <a:gridCol w="6265516">
                  <a:extLst>
                    <a:ext uri="{9D8B030D-6E8A-4147-A177-3AD203B41FA5}">
                      <a16:colId xmlns:a16="http://schemas.microsoft.com/office/drawing/2014/main" val="2845733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9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MACBADDR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Offset </a:t>
                      </a:r>
                      <a:r>
                        <a:rPr lang="zh-TW" altLang="en-US" dirty="0" smtClean="0"/>
                        <a:t>不為 </a:t>
                      </a:r>
                      <a:r>
                        <a:rPr lang="en-US" altLang="zh-TW" dirty="0" smtClean="0"/>
                        <a:t>4-byte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alignment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411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MACNOFW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沒有 </a:t>
                      </a:r>
                      <a:r>
                        <a:rPr lang="en-US" altLang="zh-TW" dirty="0" smtClean="0"/>
                        <a:t>FW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16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MACPROCERR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其他 </a:t>
                      </a:r>
                      <a:r>
                        <a:rPr lang="en-US" altLang="zh-TW" dirty="0" smtClean="0"/>
                        <a:t>Function </a:t>
                      </a:r>
                      <a:r>
                        <a:rPr lang="zh-TW" altLang="en-US" dirty="0" smtClean="0"/>
                        <a:t>正在使用 </a:t>
                      </a:r>
                      <a:r>
                        <a:rPr lang="en-US" altLang="zh-TW" dirty="0" smtClean="0"/>
                        <a:t>IO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offload API. </a:t>
                      </a:r>
                      <a:r>
                        <a:rPr lang="zh-TW" altLang="en-US" dirty="0" smtClean="0"/>
                        <a:t>建議 </a:t>
                      </a:r>
                      <a:r>
                        <a:rPr lang="en-US" altLang="zh-TW" dirty="0" smtClean="0"/>
                        <a:t>Retry </a:t>
                      </a:r>
                      <a:r>
                        <a:rPr lang="zh-TW" altLang="en-US" dirty="0" smtClean="0"/>
                        <a:t>或者依序 </a:t>
                      </a:r>
                      <a:r>
                        <a:rPr lang="en-US" altLang="zh-TW" dirty="0" err="1" smtClean="0"/>
                        <a:t>halmac</a:t>
                      </a:r>
                      <a:r>
                        <a:rPr lang="en-US" altLang="zh-TW" dirty="0" smtClean="0"/>
                        <a:t> APIs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14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MACNPTR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Null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pointer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000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MACNOBUF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Fail</a:t>
                      </a:r>
                      <a:r>
                        <a:rPr lang="en-US" altLang="zh-TW" baseline="0" dirty="0" smtClean="0"/>
                        <a:t> to set </a:t>
                      </a:r>
                      <a:r>
                        <a:rPr lang="en-US" altLang="zh-TW" dirty="0" smtClean="0"/>
                        <a:t>H2C buffer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51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MACPOLLTO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Polling FW timeout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459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MACFIOOFLD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IO</a:t>
                      </a:r>
                      <a:r>
                        <a:rPr lang="en-US" altLang="zh-TW" baseline="0" dirty="0" smtClean="0"/>
                        <a:t> offload FAIL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93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MACDRVRM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Surprise</a:t>
                      </a:r>
                      <a:r>
                        <a:rPr lang="en-US" altLang="zh-TW" baseline="0" dirty="0" smtClean="0"/>
                        <a:t> remove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18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MACBUFALLOC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Malloc</a:t>
                      </a:r>
                      <a:r>
                        <a:rPr lang="en-US" altLang="zh-TW" dirty="0" smtClean="0"/>
                        <a:t> fail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7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36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Macros in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halmac</a:t>
            </a:r>
            <a:r>
              <a:rPr lang="en-US" altLang="zh-TW" dirty="0" smtClean="0">
                <a:ea typeface="微軟正黑體" panose="020B0604030504040204" pitchFamily="34" charset="-120"/>
              </a:rPr>
              <a:t> (1/2)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5446713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ea typeface="微軟正黑體" panose="020B0604030504040204" pitchFamily="34" charset="-120"/>
              </a:rPr>
              <a:t>To simplify the code flow, there are some macros in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halmac</a:t>
            </a:r>
            <a:r>
              <a:rPr lang="en-US" altLang="zh-TW" dirty="0" smtClean="0">
                <a:ea typeface="微軟正黑體" panose="020B0604030504040204" pitchFamily="34" charset="-120"/>
              </a:rPr>
              <a:t>.</a:t>
            </a:r>
          </a:p>
          <a:p>
            <a:r>
              <a:rPr lang="en-US" altLang="zh-TW" dirty="0">
                <a:ea typeface="微軟正黑體" panose="020B0604030504040204" pitchFamily="34" charset="-120"/>
              </a:rPr>
              <a:t>MAC_REG_W8_OFLD(offset,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): write 8-bit value</a:t>
            </a:r>
          </a:p>
          <a:p>
            <a:pPr lvl="1"/>
            <a:r>
              <a:rPr lang="en-US" altLang="zh-TW" dirty="0" smtClean="0">
                <a:ea typeface="微軟正黑體" panose="020B0604030504040204" pitchFamily="34" charset="-120"/>
              </a:rPr>
              <a:t>offset: MAC REG offset</a:t>
            </a:r>
          </a:p>
          <a:p>
            <a:pPr lvl="1"/>
            <a:r>
              <a:rPr lang="en-US" altLang="zh-TW" dirty="0" err="1" smtClean="0">
                <a:ea typeface="微軟正黑體" panose="020B0604030504040204" pitchFamily="34" charset="-120"/>
              </a:rPr>
              <a:t>val</a:t>
            </a:r>
            <a:r>
              <a:rPr lang="en-US" altLang="zh-TW" dirty="0" smtClean="0">
                <a:ea typeface="微軟正黑體" panose="020B0604030504040204" pitchFamily="34" charset="-120"/>
              </a:rPr>
              <a:t>: 8-bit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val</a:t>
            </a:r>
            <a:r>
              <a:rPr lang="en-US" altLang="zh-TW" dirty="0" smtClean="0">
                <a:ea typeface="微軟正黑體" panose="020B0604030504040204" pitchFamily="34" charset="-120"/>
              </a:rPr>
              <a:t> to be written</a:t>
            </a:r>
          </a:p>
          <a:p>
            <a:pPr lvl="1"/>
            <a:r>
              <a:rPr lang="en-US" altLang="zh-TW" dirty="0" err="1" smtClean="0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: is last IO or not</a:t>
            </a:r>
          </a:p>
          <a:p>
            <a:r>
              <a:rPr lang="en-US" altLang="zh-TW" dirty="0">
                <a:ea typeface="微軟正黑體" panose="020B0604030504040204" pitchFamily="34" charset="-120"/>
              </a:rPr>
              <a:t>MAC_REG_W16_OFLD(offset,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): write 16-bit value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offset: MAC REG offset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: </a:t>
            </a:r>
            <a:r>
              <a:rPr lang="en-US" altLang="zh-TW" dirty="0" smtClean="0">
                <a:ea typeface="微軟正黑體" panose="020B0604030504040204" pitchFamily="34" charset="-120"/>
              </a:rPr>
              <a:t>16-bit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: is last IO or not</a:t>
            </a:r>
          </a:p>
          <a:p>
            <a:r>
              <a:rPr lang="en-US" altLang="zh-TW" dirty="0" smtClean="0">
                <a:ea typeface="微軟正黑體" panose="020B0604030504040204" pitchFamily="34" charset="-120"/>
              </a:rPr>
              <a:t>MAC_REG_W32_OFLD(offset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): write 32-bit value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offset: MAC REG offset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: </a:t>
            </a:r>
            <a:r>
              <a:rPr lang="en-US" altLang="zh-TW" dirty="0" smtClean="0">
                <a:ea typeface="微軟正黑體" panose="020B0604030504040204" pitchFamily="34" charset="-120"/>
              </a:rPr>
              <a:t>32-bit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: is last IO or </a:t>
            </a:r>
            <a:r>
              <a:rPr lang="en-US" altLang="zh-TW" dirty="0" smtClean="0">
                <a:ea typeface="微軟正黑體" panose="020B0604030504040204" pitchFamily="34" charset="-120"/>
              </a:rPr>
              <a:t>not</a:t>
            </a:r>
          </a:p>
          <a:p>
            <a:pPr lvl="1"/>
            <a:endParaRPr lang="en-US" altLang="zh-TW" dirty="0">
              <a:ea typeface="微軟正黑體" panose="020B0604030504040204" pitchFamily="34" charset="-120"/>
            </a:endParaRPr>
          </a:p>
          <a:p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30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Macros in </a:t>
            </a:r>
            <a:r>
              <a:rPr lang="en-US" altLang="zh-TW" dirty="0" err="1" smtClean="0">
                <a:ea typeface="微軟正黑體" panose="020B0604030504040204" pitchFamily="34" charset="-120"/>
              </a:rPr>
              <a:t>halmac</a:t>
            </a:r>
            <a:r>
              <a:rPr lang="en-US" altLang="zh-TW" dirty="0" smtClean="0">
                <a:ea typeface="微軟正黑體" panose="020B0604030504040204" pitchFamily="34" charset="-120"/>
              </a:rPr>
              <a:t> (2/2)</a:t>
            </a:r>
            <a:endParaRPr lang="en-US" altLang="zh-TW" dirty="0"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5446713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MAC_REG_W_OFLD(offset, mask,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) 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offset: MAC REG offset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mask: mask value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: 32-bit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: is last IO or not</a:t>
            </a:r>
          </a:p>
          <a:p>
            <a:r>
              <a:rPr lang="en-US" altLang="zh-TW" dirty="0">
                <a:ea typeface="微軟正黑體" panose="020B0604030504040204" pitchFamily="34" charset="-120"/>
              </a:rPr>
              <a:t>MAC_REG_P_OFLD(offset, mask,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) </a:t>
            </a:r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offset: MAC REG offset</a:t>
            </a:r>
          </a:p>
          <a:p>
            <a:pPr lvl="1"/>
            <a:r>
              <a:rPr lang="en-US" altLang="zh-TW" dirty="0">
                <a:ea typeface="微軟正黑體" panose="020B0604030504040204" pitchFamily="34" charset="-120"/>
              </a:rPr>
              <a:t>mask: mask value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: 32-bit 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 to be written</a:t>
            </a:r>
          </a:p>
          <a:p>
            <a:pPr lvl="1"/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>
                <a:ea typeface="微軟正黑體" panose="020B0604030504040204" pitchFamily="34" charset="-120"/>
              </a:rPr>
              <a:t>: is last IO or not</a:t>
            </a:r>
          </a:p>
          <a:p>
            <a:r>
              <a:rPr lang="en-US" altLang="zh-TW" dirty="0">
                <a:ea typeface="微軟正黑體" panose="020B0604030504040204" pitchFamily="34" charset="-120"/>
              </a:rPr>
              <a:t>DELAY_OFLD(</a:t>
            </a:r>
            <a:r>
              <a:rPr lang="en-US" altLang="zh-TW" dirty="0" err="1">
                <a:ea typeface="微軟正黑體" panose="020B0604030504040204" pitchFamily="34" charset="-120"/>
              </a:rPr>
              <a:t>val</a:t>
            </a:r>
            <a:r>
              <a:rPr lang="en-US" altLang="zh-TW" dirty="0">
                <a:ea typeface="微軟正黑體" panose="020B0604030504040204" pitchFamily="34" charset="-120"/>
              </a:rPr>
              <a:t>, </a:t>
            </a:r>
            <a:r>
              <a:rPr lang="en-US" altLang="zh-TW" dirty="0" err="1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en-US" altLang="zh-TW" dirty="0" err="1" smtClean="0">
                <a:ea typeface="微軟正黑體" panose="020B0604030504040204" pitchFamily="34" charset="-120"/>
              </a:rPr>
              <a:t>val</a:t>
            </a:r>
            <a:r>
              <a:rPr lang="en-US" altLang="zh-TW" dirty="0" smtClean="0">
                <a:ea typeface="微軟正黑體" panose="020B0604030504040204" pitchFamily="34" charset="-120"/>
              </a:rPr>
              <a:t>: delay period in us</a:t>
            </a:r>
          </a:p>
          <a:p>
            <a:pPr lvl="1"/>
            <a:r>
              <a:rPr lang="en-US" altLang="zh-TW" dirty="0" err="1" smtClean="0">
                <a:ea typeface="微軟正黑體" panose="020B0604030504040204" pitchFamily="34" charset="-120"/>
              </a:rPr>
              <a:t>lc</a:t>
            </a:r>
            <a:r>
              <a:rPr lang="en-US" altLang="zh-TW" dirty="0" smtClean="0">
                <a:ea typeface="微軟正黑體" panose="020B0604030504040204" pitchFamily="34" charset="-120"/>
              </a:rPr>
              <a:t>: is last IO or not</a:t>
            </a:r>
            <a:endParaRPr lang="en-US" altLang="zh-TW" dirty="0">
              <a:ea typeface="微軟正黑體" panose="020B0604030504040204" pitchFamily="34" charset="-120"/>
            </a:endParaRPr>
          </a:p>
          <a:p>
            <a:endParaRPr lang="en-US" altLang="zh-TW" dirty="0" smtClean="0"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560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Calibri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112810</TotalTime>
  <Words>585</Words>
  <Application>Microsoft Office PowerPoint</Application>
  <PresentationFormat>如螢幕大小 (4:3)</PresentationFormat>
  <Paragraphs>111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Osaka</vt:lpstr>
      <vt:lpstr>微軟正黑體</vt:lpstr>
      <vt:lpstr>新細明體</vt:lpstr>
      <vt:lpstr>Arial</vt:lpstr>
      <vt:lpstr>Calibri</vt:lpstr>
      <vt:lpstr>Consolas</vt:lpstr>
      <vt:lpstr>Times</vt:lpstr>
      <vt:lpstr>Times New Roman</vt:lpstr>
      <vt:lpstr>佈景主題1</vt:lpstr>
      <vt:lpstr>HALMAC Write IO Offload</vt:lpstr>
      <vt:lpstr>Design Goal</vt:lpstr>
      <vt:lpstr>Outline</vt:lpstr>
      <vt:lpstr>PowerPoint 簡報</vt:lpstr>
      <vt:lpstr>Overview Flow</vt:lpstr>
      <vt:lpstr>Event Notifications</vt:lpstr>
      <vt:lpstr>PowerPoint 簡報</vt:lpstr>
      <vt:lpstr>API &amp; Input Parameters</vt:lpstr>
      <vt:lpstr>Flow Chart</vt:lpstr>
      <vt:lpstr>Return Value</vt:lpstr>
      <vt:lpstr>Macros in halmac (1/2)</vt:lpstr>
      <vt:lpstr>Macros in halmac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WMAC TX intro</dc:title>
  <dc:creator>Monson_Chiang</dc:creator>
  <cp:lastModifiedBy>Yong-Ching Lin</cp:lastModifiedBy>
  <cp:revision>1174</cp:revision>
  <cp:lastPrinted>2015-10-01T02:42:27Z</cp:lastPrinted>
  <dcterms:created xsi:type="dcterms:W3CDTF">2015-01-08T06:09:06Z</dcterms:created>
  <dcterms:modified xsi:type="dcterms:W3CDTF">2021-03-25T14:50:38Z</dcterms:modified>
</cp:coreProperties>
</file>